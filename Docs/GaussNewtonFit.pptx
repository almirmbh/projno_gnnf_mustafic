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EvsovSRsO5PBl2ggYJMEMgXwj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58368" y="205740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58368" y="2615184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Gauss-Newton Method for Nonlinear Parameter Estimation and Model Fitting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658368" y="2999232"/>
            <a:ext cx="1783080" cy="0"/>
          </a:xfrm>
          <a:prstGeom prst="straightConnector1">
            <a:avLst/>
          </a:prstGeom>
          <a:noFill/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658368" y="3794760"/>
            <a:ext cx="3474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Almir Mustafić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Faculty of Electrical Engineering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University of Sarajevo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58368" y="1572768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914400" y="1664208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99616" y="1645920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About the Project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58368" y="2231136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14400" y="2322576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99616" y="2304288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Problem and Objective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8368" y="2889504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914400" y="2980944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99616" y="2962656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Target Users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58368" y="3547872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14400" y="3639312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499616" y="3621024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Models and Datasets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58368" y="4206240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914400" y="42976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499616" y="4279392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144768" y="1572768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00800" y="1664208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986016" y="1645920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Optimization Methods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44768" y="2231136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400800" y="2322576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986016" y="2304288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Key Results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144768" y="2889504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400800" y="2980944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986016" y="2962656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Existing Alternatives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44768" y="3547872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400800" y="3639312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986016" y="3621024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Why This Project Matters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144768" y="4206240"/>
            <a:ext cx="4754880" cy="310896"/>
          </a:xfrm>
          <a:prstGeom prst="roundRect">
            <a:avLst>
              <a:gd fmla="val 11765" name="adj"/>
            </a:avLst>
          </a:prstGeom>
          <a:solidFill>
            <a:srgbClr val="0B3150"/>
          </a:solidFill>
          <a:ln cap="flat" cmpd="sng" w="9525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400800" y="4297680"/>
            <a:ext cx="29260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986016" y="4279392"/>
            <a:ext cx="3566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590"/>
              <a:buFont typeface="Arial"/>
              <a:buNone/>
            </a:pPr>
            <a:r>
              <a:rPr b="0" i="0" lang="en-US" sz="5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Limitations and Future Work</a:t>
            </a:r>
            <a:endParaRPr b="0" i="0" sz="5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ABOUT THE PROJECT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58368" y="1508760"/>
            <a:ext cx="3566160" cy="1188720"/>
          </a:xfrm>
          <a:prstGeom prst="roundRect">
            <a:avLst>
              <a:gd fmla="val 3077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68096" y="1618488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68096" y="1911096"/>
            <a:ext cx="33467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GaussNewtonFit estimates parameters of nonlinear mathematical models.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17136" y="1508760"/>
            <a:ext cx="3566160" cy="1188720"/>
          </a:xfrm>
          <a:prstGeom prst="roundRect">
            <a:avLst>
              <a:gd fmla="val 3077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626864" y="1618488"/>
            <a:ext cx="33467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626864" y="1911096"/>
            <a:ext cx="334670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system implements Gauss-Newton and full Newton methods.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375904" y="1508760"/>
            <a:ext cx="3017520" cy="1188720"/>
          </a:xfrm>
          <a:prstGeom prst="roundRect">
            <a:avLst>
              <a:gd fmla="val 3077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485632" y="161848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485632" y="1911096"/>
            <a:ext cx="279806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89"/>
              <a:buFont typeface="Arial"/>
              <a:buNone/>
            </a:pPr>
            <a:r>
              <a:rPr b="0" i="0" lang="en-US" sz="89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project compares their convergence under different noise levels and initial parameter values.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057400" y="3364992"/>
            <a:ext cx="8046720" cy="1005840"/>
          </a:xfrm>
          <a:prstGeom prst="roundRect">
            <a:avLst>
              <a:gd fmla="val 3636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167128" y="3474720"/>
            <a:ext cx="7827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System functions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167128" y="3767328"/>
            <a:ext cx="78272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system includes automated tests, plots, and result export.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PROBLEM AND OBJECTIVE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58368" y="1417320"/>
            <a:ext cx="5303520" cy="960120"/>
          </a:xfrm>
          <a:prstGeom prst="roundRect">
            <a:avLst>
              <a:gd fmla="val 3810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68096" y="1527048"/>
            <a:ext cx="5084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68096" y="1819656"/>
            <a:ext cx="508406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Nonlinear models require iterative parameter estimation.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236208" y="1417320"/>
            <a:ext cx="4937760" cy="960120"/>
          </a:xfrm>
          <a:prstGeom prst="roundRect">
            <a:avLst>
              <a:gd fmla="val 3810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345936" y="1527048"/>
            <a:ext cx="4718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345936" y="1819656"/>
            <a:ext cx="471830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Different optimization methods can behave differently under the same conditions.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58368" y="2761488"/>
            <a:ext cx="10515600" cy="960120"/>
          </a:xfrm>
          <a:prstGeom prst="roundRect">
            <a:avLst>
              <a:gd fmla="val 3810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68096" y="2871216"/>
            <a:ext cx="10296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68096" y="3163824"/>
            <a:ext cx="1029614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project compares Gauss-Newton and full Newton using the same models, datasets, and stopping criteria.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691640" y="4096512"/>
            <a:ext cx="8458200" cy="960120"/>
          </a:xfrm>
          <a:prstGeom prst="roundRect">
            <a:avLst>
              <a:gd fmla="val 3810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801368" y="4206240"/>
            <a:ext cx="8238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Measurements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801368" y="4498848"/>
            <a:ext cx="8238744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comparison measures convergence, failure, iterations, residual error, and parameter accuracy.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TARGET USERS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58368" y="1645920"/>
            <a:ext cx="2450592" cy="2926080"/>
          </a:xfrm>
          <a:prstGeom prst="roundRect">
            <a:avLst>
              <a:gd fmla="val 1493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68096" y="17556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68096" y="2048256"/>
            <a:ext cx="2231136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Study nonlinear least-squares methods.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447288" y="1645920"/>
            <a:ext cx="2450592" cy="2926080"/>
          </a:xfrm>
          <a:prstGeom prst="roundRect">
            <a:avLst>
              <a:gd fmla="val 1493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557016" y="17556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Instructors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557016" y="2048256"/>
            <a:ext cx="2231136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Demonstrate optimization methods and convergence behavior.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236208" y="1645920"/>
            <a:ext cx="2450592" cy="2926080"/>
          </a:xfrm>
          <a:prstGeom prst="roundRect">
            <a:avLst>
              <a:gd fmla="val 1493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345936" y="17556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Researchers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45936" y="2048256"/>
            <a:ext cx="2231136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Compare solver behavior under controlled conditions.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025128" y="1645920"/>
            <a:ext cx="2450592" cy="2926080"/>
          </a:xfrm>
          <a:prstGeom prst="roundRect">
            <a:avLst>
              <a:gd fmla="val 1493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9134856" y="17556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Engineers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134856" y="2048256"/>
            <a:ext cx="2231136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Test nonlinear model fitting.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MODELS AND DATASETS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58368" y="1417320"/>
            <a:ext cx="3429000" cy="2971800"/>
          </a:xfrm>
          <a:prstGeom prst="roundRect">
            <a:avLst>
              <a:gd fmla="val 123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68096" y="1527048"/>
            <a:ext cx="32095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68096" y="1819656"/>
            <a:ext cx="3209544" cy="2478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Exponential decay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Logistic growth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Sinusoidal wave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407408" y="1417320"/>
            <a:ext cx="3429000" cy="2971800"/>
          </a:xfrm>
          <a:prstGeom prst="roundRect">
            <a:avLst>
              <a:gd fmla="val 123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517136" y="1527048"/>
            <a:ext cx="32095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17136" y="1819656"/>
            <a:ext cx="3209544" cy="2478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system generates synthetic data for each model.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"/>
              <a:buFont typeface="Arial"/>
              <a:buNone/>
            </a:pPr>
            <a:r>
              <a:t/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Each dataset contains 10 sample points.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156448" y="1417320"/>
            <a:ext cx="3017520" cy="2971800"/>
          </a:xfrm>
          <a:prstGeom prst="roundRect">
            <a:avLst>
              <a:gd fmla="val 123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8266176" y="1527048"/>
            <a:ext cx="2798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NOISE LEVELS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266176" y="1819656"/>
            <a:ext cx="2798064" cy="2478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experiments use noise levels of 0.00, 0.05, and 0.20.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58368" y="1417320"/>
            <a:ext cx="3246120" cy="1325880"/>
          </a:xfrm>
          <a:prstGeom prst="roundRect">
            <a:avLst>
              <a:gd fmla="val 275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68096" y="15270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C++14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68096" y="1819656"/>
            <a:ext cx="30266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Core implementation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361688" y="1417320"/>
            <a:ext cx="3246120" cy="1325880"/>
          </a:xfrm>
          <a:prstGeom prst="roundRect">
            <a:avLst>
              <a:gd fmla="val 275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471416" y="15270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CMake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471416" y="1819656"/>
            <a:ext cx="30266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Build system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065008" y="1417320"/>
            <a:ext cx="3246120" cy="1325880"/>
          </a:xfrm>
          <a:prstGeom prst="roundRect">
            <a:avLst>
              <a:gd fmla="val 275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8174736" y="15270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Matrix Library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174736" y="1819656"/>
            <a:ext cx="30266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Matrix operations and linear system solving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58368" y="3246120"/>
            <a:ext cx="3246120" cy="1325880"/>
          </a:xfrm>
          <a:prstGeom prst="roundRect">
            <a:avLst>
              <a:gd fmla="val 275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68096" y="33558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natGUI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68096" y="3648456"/>
            <a:ext cx="30266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Desktop interface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361688" y="3246120"/>
            <a:ext cx="3246120" cy="1325880"/>
          </a:xfrm>
          <a:prstGeom prst="roundRect">
            <a:avLst>
              <a:gd fmla="val 275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471416" y="33558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natPlot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471416" y="3648456"/>
            <a:ext cx="30266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Fit and convergence plots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065008" y="3246120"/>
            <a:ext cx="3246120" cy="1325880"/>
          </a:xfrm>
          <a:prstGeom prst="roundRect">
            <a:avLst>
              <a:gd fmla="val 275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174736" y="33558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C++ Standard Library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174736" y="3648456"/>
            <a:ext cx="30266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Random data generation, timing, and file export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OPTIMIZATION METHODS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49808" y="1417320"/>
            <a:ext cx="5074920" cy="2331720"/>
          </a:xfrm>
          <a:prstGeom prst="roundRect">
            <a:avLst>
              <a:gd fmla="val 156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859536" y="1527048"/>
            <a:ext cx="4855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GAUSS-NEWTON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59536" y="1819656"/>
            <a:ext cx="4855464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method uses first-order derivatives.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method approximates the Hessian with JᵀJ.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327648" y="1417320"/>
            <a:ext cx="5074920" cy="2331720"/>
          </a:xfrm>
          <a:prstGeom prst="roundRect">
            <a:avLst>
              <a:gd fmla="val 156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437376" y="1527048"/>
            <a:ext cx="4855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FULL NEWTON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437376" y="1819656"/>
            <a:ext cx="4855464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method uses first-order and second-order derivatives.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0"/>
              <a:buFont typeface="Arial"/>
              <a:buNone/>
            </a:pPr>
            <a:r>
              <a:t/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method calculates the full Hessian.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148840" y="4206240"/>
            <a:ext cx="7909560" cy="749808"/>
          </a:xfrm>
          <a:prstGeom prst="roundRect">
            <a:avLst>
              <a:gd fmla="val 4878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2258568" y="4315968"/>
            <a:ext cx="76901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Shared conditions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258568" y="4608576"/>
            <a:ext cx="76901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Both methods use the same data and stopping criteria.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KEY RESULTS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58368" y="1417320"/>
            <a:ext cx="3246120" cy="1417320"/>
          </a:xfrm>
          <a:prstGeom prst="roundRect">
            <a:avLst>
              <a:gd fmla="val 258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68096" y="15270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Initial values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68096" y="1819656"/>
            <a:ext cx="3026664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Both methods converge from close initial values.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361688" y="1417320"/>
            <a:ext cx="3246120" cy="1417320"/>
          </a:xfrm>
          <a:prstGeom prst="roundRect">
            <a:avLst>
              <a:gd fmla="val 258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471416" y="15270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Exponential model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471416" y="1819656"/>
            <a:ext cx="3026664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Gauss-Newton performs better on the exponential model with distant initial values.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065008" y="1417320"/>
            <a:ext cx="3246120" cy="1417320"/>
          </a:xfrm>
          <a:prstGeom prst="roundRect">
            <a:avLst>
              <a:gd fmla="val 258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8174736" y="152704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Logistic model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174736" y="1819656"/>
            <a:ext cx="3026664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Full Newton performs better on the logistic model with distant initial values.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2514600" y="3520440"/>
            <a:ext cx="3246120" cy="1417320"/>
          </a:xfrm>
          <a:prstGeom prst="roundRect">
            <a:avLst>
              <a:gd fmla="val 258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2624328" y="363016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Sinusoidal model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624328" y="3922776"/>
            <a:ext cx="3026664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Both methods depend on suitable initial values for the sinusoidal model.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217920" y="3520440"/>
            <a:ext cx="3246120" cy="1417320"/>
          </a:xfrm>
          <a:prstGeom prst="roundRect">
            <a:avLst>
              <a:gd fmla="val 2581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327648" y="3630168"/>
            <a:ext cx="30266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70"/>
              <a:buFont typeface="Arial"/>
              <a:buNone/>
            </a:pPr>
            <a:r>
              <a:rPr b="1" i="0" lang="en-US" sz="87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Noise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327648" y="3922776"/>
            <a:ext cx="3026664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Higher noise increases the final residual norm.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EXISTING ALTERNATIVES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58368" y="1417320"/>
            <a:ext cx="2450592" cy="2331720"/>
          </a:xfrm>
          <a:prstGeom prst="roundRect">
            <a:avLst>
              <a:gd fmla="val 156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768096" y="15270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SciPy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768096" y="1819656"/>
            <a:ext cx="2231136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SciPy provides nonlinear least-squares tools in Python.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447288" y="1417320"/>
            <a:ext cx="2450592" cy="2331720"/>
          </a:xfrm>
          <a:prstGeom prst="roundRect">
            <a:avLst>
              <a:gd fmla="val 156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3557016" y="15270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Ceres Solver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557016" y="1819656"/>
            <a:ext cx="2231136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Ceres Solver provides nonlinear optimization in C++.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236208" y="1417320"/>
            <a:ext cx="2450592" cy="2331720"/>
          </a:xfrm>
          <a:prstGeom prst="roundRect">
            <a:avLst>
              <a:gd fmla="val 156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6345936" y="15270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GNU Scientific Library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345936" y="1819656"/>
            <a:ext cx="2231136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GNU Scientific Library provides numerical optimization methods.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9025128" y="1417320"/>
            <a:ext cx="2450592" cy="2331720"/>
          </a:xfrm>
          <a:prstGeom prst="roundRect">
            <a:avLst>
              <a:gd fmla="val 1569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134856" y="1527048"/>
            <a:ext cx="22311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MATLAB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9134856" y="1819656"/>
            <a:ext cx="2231136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MATLAB provides nonlinear fitting through its Optimization Toolbox.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2148840" y="4251960"/>
            <a:ext cx="7909560" cy="822960"/>
          </a:xfrm>
          <a:prstGeom prst="roundRect">
            <a:avLst>
              <a:gd fmla="val 4444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2258568" y="4361688"/>
            <a:ext cx="76901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Shared purpose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2258568" y="4654296"/>
            <a:ext cx="76901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These tools focus on solving the fitting problem.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WHY THIS PROJECT MATTERS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914400" y="1298448"/>
            <a:ext cx="10332720" cy="512064"/>
          </a:xfrm>
          <a:prstGeom prst="roundRect">
            <a:avLst>
              <a:gd fmla="val 7143" name="adj"/>
            </a:avLst>
          </a:prstGeom>
          <a:solidFill>
            <a:srgbClr val="0A2C47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1024128" y="1408176"/>
            <a:ext cx="10113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39"/>
              <a:buFont typeface="Arial"/>
              <a:buNone/>
            </a:pPr>
            <a:r>
              <a:rPr b="0" i="0" lang="en-US" sz="94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GaussNewtonFit exposes the difference between Gauss-Newton and full Newton.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914400" y="2048256"/>
            <a:ext cx="10332720" cy="512064"/>
          </a:xfrm>
          <a:prstGeom prst="roundRect">
            <a:avLst>
              <a:gd fmla="val 7143" name="adj"/>
            </a:avLst>
          </a:prstGeom>
          <a:solidFill>
            <a:srgbClr val="0A2C47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1024128" y="2157984"/>
            <a:ext cx="10113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39"/>
              <a:buFont typeface="Arial"/>
              <a:buNone/>
            </a:pPr>
            <a:r>
              <a:rPr b="0" i="0" lang="en-US" sz="94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system uses analytical Jacobians and Hessians.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914400" y="2798064"/>
            <a:ext cx="10332720" cy="512064"/>
          </a:xfrm>
          <a:prstGeom prst="roundRect">
            <a:avLst>
              <a:gd fmla="val 7143" name="adj"/>
            </a:avLst>
          </a:prstGeom>
          <a:solidFill>
            <a:srgbClr val="0A2C47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1024128" y="2907792"/>
            <a:ext cx="10113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39"/>
              <a:buFont typeface="Arial"/>
              <a:buNone/>
            </a:pPr>
            <a:r>
              <a:rPr b="0" i="0" lang="en-US" sz="94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system applies both methods to the same test conditions.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14400" y="3547872"/>
            <a:ext cx="10332720" cy="512064"/>
          </a:xfrm>
          <a:prstGeom prst="roundRect">
            <a:avLst>
              <a:gd fmla="val 7143" name="adj"/>
            </a:avLst>
          </a:prstGeom>
          <a:solidFill>
            <a:srgbClr val="0A2C47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1024128" y="3657600"/>
            <a:ext cx="10113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39"/>
              <a:buFont typeface="Arial"/>
              <a:buNone/>
            </a:pPr>
            <a:r>
              <a:rPr b="0" i="0" lang="en-US" sz="94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results show when each method converges or fails.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914400" y="4297680"/>
            <a:ext cx="10332720" cy="512064"/>
          </a:xfrm>
          <a:prstGeom prst="roundRect">
            <a:avLst>
              <a:gd fmla="val 7143" name="adj"/>
            </a:avLst>
          </a:prstGeom>
          <a:solidFill>
            <a:srgbClr val="0A2C47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1024128" y="4407408"/>
            <a:ext cx="101132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39"/>
              <a:buFont typeface="Arial"/>
              <a:buNone/>
            </a:pPr>
            <a:r>
              <a:rPr b="0" i="0" lang="en-US" sz="94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project supports direct study of the algorithms without relying on high-level solver libraries.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66928" y="658368"/>
            <a:ext cx="10789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LIMITATIONS AND FUTURE WORK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777240" y="1417320"/>
            <a:ext cx="5166360" cy="3108960"/>
          </a:xfrm>
          <a:prstGeom prst="roundRect">
            <a:avLst>
              <a:gd fmla="val 1176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886968" y="1527048"/>
            <a:ext cx="4946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CURRENT LIMITATIONS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886968" y="1819656"/>
            <a:ext cx="4946904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system uses synthetic datasets only.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GUI supports up to three parameters.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solvers use unweighted least squares.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The solvers do not use damping or line search.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263640" y="1417320"/>
            <a:ext cx="5166360" cy="3108960"/>
          </a:xfrm>
          <a:prstGeom prst="roundRect">
            <a:avLst>
              <a:gd fmla="val 1176" name="adj"/>
            </a:avLst>
          </a:prstGeom>
          <a:solidFill>
            <a:srgbClr val="0B3150"/>
          </a:solidFill>
          <a:ln cap="flat" cmpd="sng" w="10150">
            <a:solidFill>
              <a:srgbClr val="20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6373368" y="1527048"/>
            <a:ext cx="4946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39"/>
              <a:buFont typeface="Arial"/>
              <a:buNone/>
            </a:pPr>
            <a:r>
              <a:rPr b="1" i="0" lang="en-US" sz="94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373368" y="1819656"/>
            <a:ext cx="4946904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Add external dataset import.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Add weighted least squares.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Add statistical fit measures.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Support models with more parameters.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2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C2C"/>
          </a:solidFill>
          <a:ln cap="flat" cmpd="sng" w="12700">
            <a:solidFill>
              <a:srgbClr val="071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109728" y="0"/>
            <a:ext cx="12081967" cy="146304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0" y="146304"/>
            <a:ext cx="109728" cy="6711696"/>
          </a:xfrm>
          <a:prstGeom prst="rect">
            <a:avLst/>
          </a:prstGeom>
          <a:solidFill>
            <a:srgbClr val="28C7D7"/>
          </a:solidFill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310896" y="6510528"/>
            <a:ext cx="1828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4DD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B9D4DD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11759184" y="6510528"/>
            <a:ext cx="2011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C7D7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28C7D7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58368" y="24688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13"/>
          <p:cNvCxnSpPr/>
          <p:nvPr/>
        </p:nvCxnSpPr>
        <p:spPr>
          <a:xfrm>
            <a:off x="658368" y="2999232"/>
            <a:ext cx="1783080" cy="0"/>
          </a:xfrm>
          <a:prstGeom prst="straightConnector1">
            <a:avLst/>
          </a:prstGeom>
          <a:noFill/>
          <a:ln cap="flat" cmpd="sng" w="12700">
            <a:solidFill>
              <a:srgbClr val="28C7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3"/>
          <p:cNvSpPr/>
          <p:nvPr/>
        </p:nvSpPr>
        <p:spPr>
          <a:xfrm>
            <a:off x="658368" y="352958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D8E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4D8E6"/>
                </a:solidFill>
                <a:latin typeface="Arial"/>
                <a:ea typeface="Arial"/>
                <a:cs typeface="Arial"/>
                <a:sym typeface="Arial"/>
              </a:rPr>
              <a:t>GAUSSNEWTONFIT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58368" y="3895344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8FB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F2F8FB"/>
                </a:solidFill>
                <a:latin typeface="Arial"/>
                <a:ea typeface="Arial"/>
                <a:cs typeface="Arial"/>
                <a:sym typeface="Arial"/>
              </a:rPr>
              <a:t>Gauss-Newton and full Newton methods for nonlinear model fitting.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2026-09-18T14:48:35Z</dcterms:created>
  <dc:creator>OpenAI</dc:creator>
</cp:coreProperties>
</file>